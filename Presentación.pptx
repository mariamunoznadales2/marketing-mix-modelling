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3B2"/>
    <a:srgbClr val="C6A27E"/>
    <a:srgbClr val="7B9E87"/>
    <a:srgbClr val="C585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208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" y="0"/>
            <a:ext cx="5303520" cy="51435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50" dirty="0">
                <a:solidFill>
                  <a:srgbClr val="DE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M O D 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1371600" cy="0"/>
          </a:xfrm>
          <a:prstGeom prst="line">
            <a:avLst/>
          </a:prstGeom>
          <a:noFill/>
          <a:ln w="7620">
            <a:solidFill>
              <a:srgbClr val="A884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Optimización de</a:t>
            </a:r>
            <a:endParaRPr lang="en-US" sz="3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inversión en</a:t>
            </a:r>
            <a:endParaRPr lang="en-US" sz="3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4505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E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 aplicado a K-MODA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4114800" cy="0"/>
          </a:xfrm>
          <a:prstGeom prst="line">
            <a:avLst/>
          </a:prstGeom>
          <a:noFill/>
          <a:ln w="6350">
            <a:solidFill>
              <a:srgbClr val="4A4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312724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Periodo: 2020–2024 · 260 semanas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analizadas: 766M€ · Modelo: ElasticNet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67588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0,885 · MAPE 7,53%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4041648"/>
            <a:ext cx="1508760" cy="868680"/>
          </a:xfrm>
          <a:prstGeom prst="rect">
            <a:avLst/>
          </a:prstGeom>
          <a:solidFill>
            <a:srgbClr val="363030"/>
          </a:solidFill>
          <a:ln w="5080">
            <a:solidFill>
              <a:srgbClr val="4A4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75488" y="4041648"/>
            <a:ext cx="1508760" cy="32004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" y="407822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766M€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" y="4517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analizadas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84832" y="4041648"/>
            <a:ext cx="1508760" cy="868680"/>
          </a:xfrm>
          <a:prstGeom prst="rect">
            <a:avLst/>
          </a:prstGeom>
          <a:solidFill>
            <a:srgbClr val="363030"/>
          </a:solidFill>
          <a:ln w="5080">
            <a:solidFill>
              <a:srgbClr val="4A4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084832" y="4041648"/>
            <a:ext cx="1508760" cy="32004"/>
          </a:xfrm>
          <a:prstGeom prst="rect">
            <a:avLst/>
          </a:prstGeom>
          <a:solidFill>
            <a:srgbClr val="C6A27E"/>
          </a:solidFill>
          <a:ln w="12700">
            <a:solidFill>
              <a:srgbClr val="C6A2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084832" y="407822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374,6M€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084832" y="4517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marketing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94176" y="4041648"/>
            <a:ext cx="1508760" cy="868680"/>
          </a:xfrm>
          <a:prstGeom prst="rect">
            <a:avLst/>
          </a:prstGeom>
          <a:solidFill>
            <a:srgbClr val="363030"/>
          </a:solidFill>
          <a:ln w="5080">
            <a:solidFill>
              <a:srgbClr val="4A45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694176" y="4041648"/>
            <a:ext cx="1508760" cy="32004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694176" y="407822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+3,0M€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694176" y="4517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potencial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495604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 = Marketing Mix Model · Contribución estimada por ElasticNetCV sobre 260 semanas (2020–2024)</a:t>
            </a:r>
            <a:endParaRPr lang="en-US" sz="7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285232" y="0"/>
            <a:ext cx="32004" cy="5143500"/>
          </a:xfrm>
          <a:prstGeom prst="rect">
            <a:avLst/>
          </a:prstGeom>
          <a:solidFill>
            <a:srgbClr val="C6A27E"/>
          </a:solidFill>
          <a:ln w="12700">
            <a:solidFill>
              <a:srgbClr val="C6A2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marketing se gestiona sin una función </a:t>
            </a:r>
            <a:r>
              <a:rPr lang="en-US" sz="2000" b="1" dirty="0" err="1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económica</a:t>
            </a:r>
            <a:r>
              <a:rPr lang="en-US" sz="2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000" b="1" dirty="0" err="1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clara</a:t>
            </a:r>
            <a:r>
              <a:rPr lang="en-US" sz="2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modelo de respuesta, no es posible comparar </a:t>
            </a:r>
            <a:r>
              <a:rPr lang="en-US" sz="1200" dirty="0" err="1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2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optimizer.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60520" cy="107899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32004" cy="1078992"/>
          </a:xfrm>
          <a:prstGeom prst="rect">
            <a:avLst/>
          </a:prstGeom>
          <a:solidFill>
            <a:srgbClr val="C6A27E"/>
          </a:solidFill>
          <a:ln w="12700">
            <a:solidFill>
              <a:srgbClr val="C6A2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A88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426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~12M€/año invertidos en marketing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550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Activación basada en calendario y campañas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83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existe función de respuesta estimada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160520" cy="1078992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2004" cy="1078992"/>
          </a:xfrm>
          <a:prstGeom prst="rect">
            <a:avLst/>
          </a:prstGeom>
          <a:solidFill>
            <a:srgbClr val="C4856A"/>
          </a:solidFill>
          <a:ln w="12700">
            <a:solidFill>
              <a:srgbClr val="C485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4360" y="23591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C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596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Sobreinversión en canales saturados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825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Infrautilización de canales eficientes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054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Decisiones no comparables entre sí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56432"/>
            <a:ext cx="4160520" cy="98755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32004" cy="987552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94360" y="3529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FALTA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" y="3767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impacto incremental real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21408" y="3767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saturación por canal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47288" y="3767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ROI marginal entre canales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1115568"/>
            <a:ext cx="4069080" cy="2743200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992624" y="12252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A88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MÁS INVERSIÓN ≠ MÁS ROI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828032" y="3950208"/>
            <a:ext cx="4069080" cy="566928"/>
          </a:xfrm>
          <a:prstGeom prst="rect">
            <a:avLst/>
          </a:prstGeom>
          <a:solidFill>
            <a:srgbClr val="EDE8E0"/>
          </a:solidFill>
          <a:ln w="6350">
            <a:solidFill>
              <a:srgbClr val="DEC5A8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4992624" y="3986784"/>
            <a:ext cx="3813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8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agresivo (+15% budget):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+8M€ ventas pero ROI cae de 13,9x → 11,9x  (-15%)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4517136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 optimiza </a:t>
            </a:r>
            <a:r>
              <a:rPr lang="en-US" sz="120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</a:t>
            </a: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</a:t>
            </a: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se </a:t>
            </a:r>
            <a:r>
              <a:rPr lang="en-US" sz="120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ejecuta</a:t>
            </a: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F29AE06A-79B0-4D56-69CF-1D04CF0F0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1418358"/>
            <a:ext cx="3958332" cy="25440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contribución y respuesta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medición incremental · ElasticNetCV · adstock · saturación log1p · 260 semanas · 22 variables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121408" cy="117043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121408" cy="36576"/>
          </a:xfrm>
          <a:prstGeom prst="rect">
            <a:avLst/>
          </a:prstGeom>
          <a:solidFill>
            <a:srgbClr val="C4856A"/>
          </a:solidFill>
          <a:ln w="12700">
            <a:solidFill>
              <a:srgbClr val="C485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121408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0,885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67298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del modelo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18777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capacidad explicativa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42616" y="1005840"/>
            <a:ext cx="2121408" cy="117043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642616" y="1005840"/>
            <a:ext cx="2121408" cy="36576"/>
          </a:xfrm>
          <a:prstGeom prst="rect">
            <a:avLst/>
          </a:prstGeom>
          <a:solidFill>
            <a:srgbClr val="C6A27E"/>
          </a:solidFill>
          <a:ln w="12700">
            <a:solidFill>
              <a:srgbClr val="C6A2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642616" y="1097280"/>
            <a:ext cx="2121408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42616" y="167298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semanal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42616" y="1918777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promedio de predicción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28032" y="1005840"/>
            <a:ext cx="2121408" cy="117043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828032" y="1005840"/>
            <a:ext cx="2121408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828032" y="1097280"/>
            <a:ext cx="2121408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48,9%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28032" y="167298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atribuibles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1918777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del marketing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13448" y="1005840"/>
            <a:ext cx="1993392" cy="117043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 flipV="1">
            <a:off x="7013448" y="1005657"/>
            <a:ext cx="1993392" cy="45719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013448" y="1097280"/>
            <a:ext cx="2121408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51,1%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13448" y="167298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estructural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13448" y="1918777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independiente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3017520" cy="1874520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21792" y="2359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DE VENTAS</a:t>
            </a:r>
            <a:endParaRPr lang="en-US" sz="8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78608"/>
            <a:ext cx="2871216" cy="1472184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611880" y="2267712"/>
            <a:ext cx="2560320" cy="1874520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3776472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POR CANAL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749040" y="2596896"/>
            <a:ext cx="2304288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749040" y="2556175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754880" y="2550445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532120" y="254057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749040" y="2743200"/>
            <a:ext cx="2304288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3721608" y="2761488"/>
            <a:ext cx="27432" cy="164592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3813048" y="2743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Email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754880" y="27432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71,2M€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532120" y="27432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24,3x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749040" y="2990088"/>
            <a:ext cx="2304288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7"/>
          <p:cNvSpPr/>
          <p:nvPr/>
        </p:nvSpPr>
        <p:spPr>
          <a:xfrm>
            <a:off x="3721608" y="3044952"/>
            <a:ext cx="27432" cy="16459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8"/>
          <p:cNvSpPr/>
          <p:nvPr/>
        </p:nvSpPr>
        <p:spPr>
          <a:xfrm>
            <a:off x="3813048" y="3026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754880" y="30266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114,9M€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532120" y="302666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8,3x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749040" y="3273552"/>
            <a:ext cx="2304288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2"/>
          <p:cNvSpPr/>
          <p:nvPr/>
        </p:nvSpPr>
        <p:spPr>
          <a:xfrm>
            <a:off x="3721608" y="3328416"/>
            <a:ext cx="27432" cy="164592"/>
          </a:xfrm>
          <a:prstGeom prst="rect">
            <a:avLst/>
          </a:prstGeom>
          <a:solidFill>
            <a:srgbClr val="C6A27E"/>
          </a:solidFill>
          <a:ln w="12700">
            <a:solidFill>
              <a:srgbClr val="C6A2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3"/>
          <p:cNvSpPr/>
          <p:nvPr/>
        </p:nvSpPr>
        <p:spPr>
          <a:xfrm>
            <a:off x="3813048" y="33101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4754880" y="33101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85,7M€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532120" y="33101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4,5x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749040" y="3557016"/>
            <a:ext cx="2304288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7"/>
          <p:cNvSpPr/>
          <p:nvPr/>
        </p:nvSpPr>
        <p:spPr>
          <a:xfrm>
            <a:off x="3721608" y="3611880"/>
            <a:ext cx="27432" cy="164592"/>
          </a:xfrm>
          <a:prstGeom prst="rect">
            <a:avLst/>
          </a:prstGeom>
          <a:solidFill>
            <a:srgbClr val="C4856A"/>
          </a:solidFill>
          <a:ln w="12700">
            <a:solidFill>
              <a:srgbClr val="C485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8"/>
          <p:cNvSpPr/>
          <p:nvPr/>
        </p:nvSpPr>
        <p:spPr>
          <a:xfrm>
            <a:off x="3813048" y="35935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754880" y="35935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102,9M€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5532120" y="35935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4,3x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3749040" y="3840480"/>
            <a:ext cx="2304288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2"/>
          <p:cNvSpPr/>
          <p:nvPr/>
        </p:nvSpPr>
        <p:spPr>
          <a:xfrm>
            <a:off x="3721608" y="3895344"/>
            <a:ext cx="27432" cy="164592"/>
          </a:xfrm>
          <a:prstGeom prst="rect">
            <a:avLst/>
          </a:prstGeom>
          <a:solidFill>
            <a:srgbClr val="8A817C"/>
          </a:solidFill>
          <a:ln w="12700">
            <a:solidFill>
              <a:srgbClr val="8A81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/>
          <p:nvPr/>
        </p:nvSpPr>
        <p:spPr>
          <a:xfrm>
            <a:off x="3813048" y="3877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(no mktg)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754880" y="38770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391,4M€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5532120" y="38770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6309360" y="2267712"/>
            <a:ext cx="2697480" cy="1874520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60" name="Text 57"/>
          <p:cNvSpPr/>
          <p:nvPr/>
        </p:nvSpPr>
        <p:spPr>
          <a:xfrm>
            <a:off x="6336792" y="2351594"/>
            <a:ext cx="3025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DEL MODELO POR ESCENARIO</a:t>
            </a:r>
            <a:endParaRPr lang="en-US" sz="700" dirty="0"/>
          </a:p>
        </p:txBody>
      </p:sp>
      <p:sp>
        <p:nvSpPr>
          <p:cNvPr id="62" name="Shape 58"/>
          <p:cNvSpPr/>
          <p:nvPr/>
        </p:nvSpPr>
        <p:spPr>
          <a:xfrm>
            <a:off x="457200" y="4233672"/>
            <a:ext cx="5687568" cy="512064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3" name="Text 59"/>
          <p:cNvSpPr/>
          <p:nvPr/>
        </p:nvSpPr>
        <p:spPr>
          <a:xfrm>
            <a:off x="621792" y="43068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1536192" y="4343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260 sem.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2313432" y="4489704"/>
            <a:ext cx="64008" cy="0"/>
          </a:xfrm>
          <a:prstGeom prst="line">
            <a:avLst/>
          </a:prstGeom>
          <a:noFill/>
          <a:ln w="7620">
            <a:solidFill>
              <a:srgbClr val="DEC5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2"/>
          <p:cNvSpPr/>
          <p:nvPr/>
        </p:nvSpPr>
        <p:spPr>
          <a:xfrm>
            <a:off x="2322576" y="4379976"/>
            <a:ext cx="73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E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2386584" y="4343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</a:t>
            </a:r>
            <a:endParaRPr lang="en-US" sz="800" dirty="0"/>
          </a:p>
        </p:txBody>
      </p:sp>
      <p:sp>
        <p:nvSpPr>
          <p:cNvPr id="68" name="Shape 64"/>
          <p:cNvSpPr/>
          <p:nvPr/>
        </p:nvSpPr>
        <p:spPr>
          <a:xfrm>
            <a:off x="3163824" y="4489704"/>
            <a:ext cx="64008" cy="0"/>
          </a:xfrm>
          <a:prstGeom prst="line">
            <a:avLst/>
          </a:prstGeom>
          <a:noFill/>
          <a:ln w="7620">
            <a:solidFill>
              <a:srgbClr val="DEC5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5"/>
          <p:cNvSpPr/>
          <p:nvPr/>
        </p:nvSpPr>
        <p:spPr>
          <a:xfrm>
            <a:off x="3172968" y="4379976"/>
            <a:ext cx="73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E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3236976" y="4343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 log1p</a:t>
            </a:r>
            <a:endParaRPr lang="en-US" sz="800" dirty="0"/>
          </a:p>
        </p:txBody>
      </p:sp>
      <p:sp>
        <p:nvSpPr>
          <p:cNvPr id="71" name="Shape 67"/>
          <p:cNvSpPr/>
          <p:nvPr/>
        </p:nvSpPr>
        <p:spPr>
          <a:xfrm>
            <a:off x="4014216" y="4489704"/>
            <a:ext cx="64008" cy="0"/>
          </a:xfrm>
          <a:prstGeom prst="line">
            <a:avLst/>
          </a:prstGeom>
          <a:noFill/>
          <a:ln w="7620">
            <a:solidFill>
              <a:srgbClr val="DEC5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68"/>
          <p:cNvSpPr/>
          <p:nvPr/>
        </p:nvSpPr>
        <p:spPr>
          <a:xfrm>
            <a:off x="4023360" y="4379976"/>
            <a:ext cx="73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E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900" dirty="0"/>
          </a:p>
        </p:txBody>
      </p:sp>
      <p:sp>
        <p:nvSpPr>
          <p:cNvPr id="73" name="Text 69"/>
          <p:cNvSpPr/>
          <p:nvPr/>
        </p:nvSpPr>
        <p:spPr>
          <a:xfrm>
            <a:off x="4087368" y="4343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CV</a:t>
            </a:r>
            <a:endParaRPr lang="en-US" sz="800" dirty="0"/>
          </a:p>
        </p:txBody>
      </p:sp>
      <p:sp>
        <p:nvSpPr>
          <p:cNvPr id="74" name="Shape 70"/>
          <p:cNvSpPr/>
          <p:nvPr/>
        </p:nvSpPr>
        <p:spPr>
          <a:xfrm>
            <a:off x="4864608" y="4489704"/>
            <a:ext cx="64008" cy="0"/>
          </a:xfrm>
          <a:prstGeom prst="line">
            <a:avLst/>
          </a:prstGeom>
          <a:noFill/>
          <a:ln w="7620">
            <a:solidFill>
              <a:srgbClr val="DEC5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1"/>
          <p:cNvSpPr/>
          <p:nvPr/>
        </p:nvSpPr>
        <p:spPr>
          <a:xfrm>
            <a:off x="4873752" y="4379976"/>
            <a:ext cx="73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E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900" dirty="0"/>
          </a:p>
        </p:txBody>
      </p:sp>
      <p:sp>
        <p:nvSpPr>
          <p:cNvPr id="76" name="Text 72"/>
          <p:cNvSpPr/>
          <p:nvPr/>
        </p:nvSpPr>
        <p:spPr>
          <a:xfrm>
            <a:off x="4937760" y="4343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canal</a:t>
            </a:r>
            <a:endParaRPr lang="en-US" sz="800" dirty="0"/>
          </a:p>
        </p:txBody>
      </p:sp>
      <p:sp>
        <p:nvSpPr>
          <p:cNvPr id="77" name="Shape 73"/>
          <p:cNvSpPr/>
          <p:nvPr/>
        </p:nvSpPr>
        <p:spPr>
          <a:xfrm>
            <a:off x="6263640" y="4233672"/>
            <a:ext cx="274320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8" name="Text 74"/>
          <p:cNvSpPr/>
          <p:nvPr/>
        </p:nvSpPr>
        <p:spPr>
          <a:xfrm>
            <a:off x="6423660" y="43784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VS BASE</a:t>
            </a:r>
          </a:p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2020–2024 · convergencia ~50/50</a:t>
            </a:r>
            <a:endParaRPr lang="en-US" sz="800" dirty="0"/>
          </a:p>
        </p:txBody>
      </p:sp>
      <p:sp>
        <p:nvSpPr>
          <p:cNvPr id="80" name="Shape 75"/>
          <p:cNvSpPr/>
          <p:nvPr/>
        </p:nvSpPr>
        <p:spPr>
          <a:xfrm>
            <a:off x="457200" y="4818888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6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convierte inversión en función económica medible · R² 0,885 · todos los escenarios &lt; 9% MAPE · confianza ALTA</a:t>
            </a:r>
            <a:endParaRPr lang="en-US" sz="850" dirty="0"/>
          </a:p>
        </p:txBody>
      </p:sp>
      <p:pic>
        <p:nvPicPr>
          <p:cNvPr id="83" name="Imagen 82">
            <a:extLst>
              <a:ext uri="{FF2B5EF4-FFF2-40B4-BE49-F238E27FC236}">
                <a16:creationId xmlns:a16="http://schemas.microsoft.com/office/drawing/2014/main" id="{B12A1AE4-8EEC-A963-F6DA-95F13CB16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452" y="2540570"/>
            <a:ext cx="2693296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7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no es cuánto invertimos, </a:t>
            </a:r>
            <a:r>
              <a:rPr lang="en-US" sz="2400" b="1" dirty="0" err="1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sino</a:t>
            </a:r>
            <a:r>
              <a:rPr lang="en-US" sz="2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</a:t>
            </a:r>
            <a:r>
              <a:rPr lang="en-US" sz="2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3340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económico del mix actual por canal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62001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827533"/>
            <a:ext cx="4785779" cy="2162551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6" name="Text 4"/>
          <p:cNvSpPr/>
          <p:nvPr/>
        </p:nvSpPr>
        <p:spPr>
          <a:xfrm>
            <a:off x="564089" y="84277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VS INVERSIÓN POR CANAL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2971800"/>
            <a:ext cx="4785779" cy="2171699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64089" y="3008379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MARGINAL DECRECIENTE POR CANAL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68112" y="1051560"/>
            <a:ext cx="3538728" cy="135331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8"/>
          <p:cNvSpPr/>
          <p:nvPr/>
        </p:nvSpPr>
        <p:spPr>
          <a:xfrm>
            <a:off x="5632704" y="1143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ECONÓMICA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605272" y="1371600"/>
            <a:ext cx="3282696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5632704" y="145389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815584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opera en zona saturada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32704" y="174650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15584" y="17465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aún tiene elasticidad positiva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632704" y="20391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815584" y="2039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CRM: ROI alto, capacidad por escalar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68112" y="2496312"/>
            <a:ext cx="3538728" cy="2002536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5623560" y="249631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POR CANAL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605272" y="2807208"/>
            <a:ext cx="3282696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5632704" y="27203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702552" y="2714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388352" y="2714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229600" y="2695951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ventas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605272" y="2843784"/>
            <a:ext cx="3282696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4"/>
          <p:cNvSpPr/>
          <p:nvPr/>
        </p:nvSpPr>
        <p:spPr>
          <a:xfrm>
            <a:off x="5596128" y="2990088"/>
            <a:ext cx="27432" cy="18288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5669280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702552" y="29718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24x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388352" y="29718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229600" y="29718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9,3%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605272" y="3264408"/>
            <a:ext cx="3282696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0"/>
          <p:cNvSpPr/>
          <p:nvPr/>
        </p:nvSpPr>
        <p:spPr>
          <a:xfrm>
            <a:off x="5596128" y="3337560"/>
            <a:ext cx="27432" cy="18288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1"/>
          <p:cNvSpPr/>
          <p:nvPr/>
        </p:nvSpPr>
        <p:spPr>
          <a:xfrm>
            <a:off x="5669280" y="3319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6702552" y="33192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8,3x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7388352" y="33192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8229600" y="33192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15,0%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605272" y="3611880"/>
            <a:ext cx="3282696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6"/>
          <p:cNvSpPr/>
          <p:nvPr/>
        </p:nvSpPr>
        <p:spPr>
          <a:xfrm>
            <a:off x="5596128" y="3685032"/>
            <a:ext cx="27432" cy="182880"/>
          </a:xfrm>
          <a:prstGeom prst="rect">
            <a:avLst/>
          </a:prstGeom>
          <a:solidFill>
            <a:srgbClr val="C6A27E"/>
          </a:solidFill>
          <a:ln w="12700">
            <a:solidFill>
              <a:srgbClr val="C6A2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7"/>
          <p:cNvSpPr/>
          <p:nvPr/>
        </p:nvSpPr>
        <p:spPr>
          <a:xfrm>
            <a:off x="5669280" y="3666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6702552" y="36667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4,5x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7388352" y="36667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8229600" y="36667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11,2%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5605272" y="3959352"/>
            <a:ext cx="3282696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2"/>
          <p:cNvSpPr/>
          <p:nvPr/>
        </p:nvSpPr>
        <p:spPr>
          <a:xfrm>
            <a:off x="5596128" y="4032504"/>
            <a:ext cx="27432" cy="182880"/>
          </a:xfrm>
          <a:prstGeom prst="rect">
            <a:avLst/>
          </a:prstGeom>
          <a:solidFill>
            <a:srgbClr val="C4856A"/>
          </a:solidFill>
          <a:ln w="12700">
            <a:solidFill>
              <a:srgbClr val="C485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3"/>
          <p:cNvSpPr/>
          <p:nvPr/>
        </p:nvSpPr>
        <p:spPr>
          <a:xfrm>
            <a:off x="5669280" y="4014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6702552" y="40142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4,3x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7388352" y="401421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saturado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8229600" y="40142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13,4%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5596128" y="4553711"/>
            <a:ext cx="3208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</a:t>
            </a:r>
            <a:r>
              <a:rPr lang="en-US" sz="105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</a:t>
            </a:r>
            <a:r>
              <a:rPr lang="en-US" sz="105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invirtiendo</a:t>
            </a:r>
            <a:r>
              <a:rPr lang="en-US" sz="105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105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</a:t>
            </a:r>
            <a:r>
              <a:rPr lang="en-US" sz="105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último</a:t>
            </a:r>
            <a:r>
              <a:rPr lang="en-US" sz="105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euro </a:t>
            </a:r>
            <a:r>
              <a:rPr lang="en-US" sz="105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</a:t>
            </a:r>
            <a:r>
              <a:rPr lang="en-US" sz="105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rentable.</a:t>
            </a:r>
            <a:endParaRPr lang="en-US" sz="1050" dirty="0"/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D05AF48B-A5E4-6AEE-D5EF-44C03F7D4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89" y="1051560"/>
            <a:ext cx="2780159" cy="1878184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ECC75B1D-40C6-A637-8B8F-F856C5506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89" y="3188210"/>
            <a:ext cx="4249123" cy="1876654"/>
          </a:xfrm>
          <a:prstGeom prst="rect">
            <a:avLst/>
          </a:prstGeom>
        </p:spPr>
      </p:pic>
      <p:sp>
        <p:nvSpPr>
          <p:cNvPr id="59" name="Shape 16">
            <a:extLst>
              <a:ext uri="{FF2B5EF4-FFF2-40B4-BE49-F238E27FC236}">
                <a16:creationId xmlns:a16="http://schemas.microsoft.com/office/drawing/2014/main" id="{95A409A5-BF8C-9B3B-0E5F-8F215207E8F3}"/>
              </a:ext>
            </a:extLst>
          </p:cNvPr>
          <p:cNvSpPr/>
          <p:nvPr/>
        </p:nvSpPr>
        <p:spPr>
          <a:xfrm>
            <a:off x="3549053" y="1216763"/>
            <a:ext cx="1504188" cy="1412440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701645B-DDD7-356B-F565-287A3F323FD4}"/>
              </a:ext>
            </a:extLst>
          </p:cNvPr>
          <p:cNvSpPr/>
          <p:nvPr/>
        </p:nvSpPr>
        <p:spPr>
          <a:xfrm>
            <a:off x="3611880" y="1246630"/>
            <a:ext cx="1362456" cy="1501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39D7ED01-2B11-5530-70B9-6B655BEE6BE2}"/>
              </a:ext>
            </a:extLst>
          </p:cNvPr>
          <p:cNvSpPr/>
          <p:nvPr/>
        </p:nvSpPr>
        <p:spPr>
          <a:xfrm>
            <a:off x="3611880" y="1326037"/>
            <a:ext cx="1362456" cy="119389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1" name="Text 11">
            <a:extLst>
              <a:ext uri="{FF2B5EF4-FFF2-40B4-BE49-F238E27FC236}">
                <a16:creationId xmlns:a16="http://schemas.microsoft.com/office/drawing/2014/main" id="{21473C2C-108B-0F05-7C95-7914A400A12D}"/>
              </a:ext>
            </a:extLst>
          </p:cNvPr>
          <p:cNvSpPr/>
          <p:nvPr/>
        </p:nvSpPr>
        <p:spPr>
          <a:xfrm>
            <a:off x="3687455" y="1363526"/>
            <a:ext cx="13761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00" dirty="0">
              <a:solidFill>
                <a:srgbClr val="2B2B2B"/>
              </a:solidFill>
              <a:latin typeface="Aptos Narrow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RETORNO MARGINAL</a:t>
            </a:r>
          </a:p>
          <a:p>
            <a:endParaRPr lang="en-US" sz="800" dirty="0">
              <a:solidFill>
                <a:schemeClr val="bg2">
                  <a:lumMod val="75000"/>
                </a:schemeClr>
              </a:solidFill>
              <a:latin typeface="Aptos Narrow" panose="020B000402020202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69477100-887A-6FE2-B220-6C55080B8E59}"/>
              </a:ext>
            </a:extLst>
          </p:cNvPr>
          <p:cNvSpPr/>
          <p:nvPr/>
        </p:nvSpPr>
        <p:spPr>
          <a:xfrm>
            <a:off x="3687455" y="1759000"/>
            <a:ext cx="1619532" cy="23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00" dirty="0">
              <a:solidFill>
                <a:srgbClr val="2B2B2B"/>
              </a:solidFill>
              <a:latin typeface="Aptos Narrow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No es </a:t>
            </a:r>
            <a:r>
              <a:rPr lang="en-US" sz="800" dirty="0" err="1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homogéneo</a:t>
            </a:r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El punto actual no es </a:t>
            </a:r>
            <a:r>
              <a:rPr lang="en-US" sz="800" dirty="0" err="1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óptimo</a:t>
            </a:r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800" dirty="0">
              <a:solidFill>
                <a:schemeClr val="bg2">
                  <a:lumMod val="75000"/>
                </a:schemeClr>
              </a:solidFill>
              <a:latin typeface="Aptos Narrow" panose="020B000402020202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4786526F-3792-F047-BFC0-3C9FD8DF02F0}"/>
              </a:ext>
            </a:extLst>
          </p:cNvPr>
          <p:cNvSpPr/>
          <p:nvPr/>
        </p:nvSpPr>
        <p:spPr>
          <a:xfrm>
            <a:off x="3686274" y="1967332"/>
            <a:ext cx="1619532" cy="23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00" dirty="0">
              <a:solidFill>
                <a:srgbClr val="2B2B2B"/>
              </a:solidFill>
              <a:latin typeface="Aptos Narrow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00" dirty="0" err="1">
                <a:solidFill>
                  <a:srgbClr val="C5856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Reasignación</a:t>
            </a:r>
            <a:r>
              <a:rPr lang="en-US" sz="800" dirty="0">
                <a:solidFill>
                  <a:srgbClr val="C5856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C5856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necesaria</a:t>
            </a:r>
            <a:r>
              <a:rPr lang="en-US" sz="800" dirty="0">
                <a:solidFill>
                  <a:srgbClr val="C5856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ROI no se optimiza: se elige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de la frontera implica una estrategia de negocio distinta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51559"/>
            <a:ext cx="5779008" cy="1993387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85216" y="1065276"/>
            <a:ext cx="5522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EFICIENCIA — TRADE-OFF ROI vs VENTAS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382512" y="1051560"/>
            <a:ext cx="2606040" cy="1901952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533388" y="1099566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REAL DE SUBIR ROI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519672" y="1371600"/>
            <a:ext cx="2350008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519672" y="1325879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111746" y="131673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955280" y="13213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464808" y="146303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~13x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58609" y="1501137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12M€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55280" y="14904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161M€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19672" y="17297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519672" y="1929384"/>
            <a:ext cx="2350008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6499860" y="190195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~17x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58609" y="1927861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8,5M€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955280" y="1927861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147M€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19672" y="220370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519672" y="2350008"/>
            <a:ext cx="2350008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6519672" y="236829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~20x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63181" y="2386583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7,3M€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955280" y="2386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141M€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19672" y="26243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3044951"/>
            <a:ext cx="5779008" cy="2031948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621792" y="3118104"/>
            <a:ext cx="5522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EVOLUCIONA EL MIX A LO LARGO DE LA FRONTERA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6382512" y="3044952"/>
            <a:ext cx="2606040" cy="126187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29"/>
          <p:cNvSpPr/>
          <p:nvPr/>
        </p:nvSpPr>
        <p:spPr>
          <a:xfrm>
            <a:off x="6547104" y="3118104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ESTRATÉGICA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6519672" y="3337560"/>
            <a:ext cx="2350008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1"/>
          <p:cNvSpPr/>
          <p:nvPr/>
        </p:nvSpPr>
        <p:spPr>
          <a:xfrm>
            <a:off x="6547104" y="34107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729984" y="341071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alto = presupuesto bajo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547104" y="36758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6729984" y="3675888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inversión = más ventas pero más saturación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547104" y="394106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729984" y="3941064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punto dominante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57200" y="4887468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3" name="Image 1" descr="preencoded.png">
            <a:extLst>
              <a:ext uri="{FF2B5EF4-FFF2-40B4-BE49-F238E27FC236}">
                <a16:creationId xmlns:a16="http://schemas.microsoft.com/office/drawing/2014/main" id="{7ED8D518-39A6-9FC5-4912-ED1B115FD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20" y="1239012"/>
            <a:ext cx="4785779" cy="1805934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A4FE9701-9F07-0C7B-D3C0-DC6A753F9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20" y="3280716"/>
            <a:ext cx="4507992" cy="1796183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659880" y="4398264"/>
            <a:ext cx="2049780" cy="5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Mejorar el ROI implica destruir volumen de ventas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Optimización sin incremento de inversión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Reasignación del mix hacia canales con mayor elasticidad y menor saturación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572000" cy="281635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21792" y="1161288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CAMBIOS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380744"/>
            <a:ext cx="4315968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76072" y="1563624"/>
            <a:ext cx="27432" cy="320040"/>
          </a:xfrm>
          <a:prstGeom prst="rect">
            <a:avLst/>
          </a:prstGeom>
          <a:solidFill>
            <a:srgbClr val="C4856A"/>
          </a:solidFill>
          <a:ln w="12700">
            <a:solidFill>
              <a:srgbClr val="C485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58368" y="15636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Perf.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40280" y="15270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1,6M€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55264" y="1600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16002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saturada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039112"/>
            <a:ext cx="4315968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76072" y="2130552"/>
            <a:ext cx="27432" cy="32004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58368" y="21305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Awareness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40280" y="20939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1,0M€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55264" y="2167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216712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 positiva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606040"/>
            <a:ext cx="4315968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576072" y="2697480"/>
            <a:ext cx="27432" cy="320040"/>
          </a:xfrm>
          <a:prstGeom prst="rect">
            <a:avLst/>
          </a:prstGeom>
          <a:solidFill>
            <a:srgbClr val="C6A27E"/>
          </a:solidFill>
          <a:ln w="12700">
            <a:solidFill>
              <a:srgbClr val="C6A2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58368" y="2697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240280" y="266090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0,5M€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55264" y="2734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27340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acumulado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4315968" cy="0"/>
          </a:xfrm>
          <a:prstGeom prst="line">
            <a:avLst/>
          </a:prstGeom>
          <a:noFill/>
          <a:ln w="381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76072" y="3264408"/>
            <a:ext cx="27432" cy="32004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58368" y="32644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Email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240280" y="32278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0,1M€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55264" y="33009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94760" y="330098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más alto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59352"/>
            <a:ext cx="4572000" cy="493776"/>
          </a:xfrm>
          <a:prstGeom prst="rect">
            <a:avLst/>
          </a:prstGeom>
          <a:solidFill>
            <a:srgbClr val="EDE8E0"/>
          </a:solidFill>
          <a:ln w="6350">
            <a:solidFill>
              <a:srgbClr val="DEC5A8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21792" y="405079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A88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FUNCIONA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" y="4251960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marginal superior  ·  Menor saturación  ·  Mejor distribución del mix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93792" y="1051560"/>
            <a:ext cx="3813048" cy="1051560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5193792" y="1051560"/>
            <a:ext cx="3813048" cy="36576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193792" y="1143000"/>
            <a:ext cx="3813048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+3,0M€</a:t>
            </a:r>
            <a:endParaRPr lang="en-US" sz="3200" dirty="0">
              <a:solidFill>
                <a:srgbClr val="7B9E87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5193792" y="1650949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incrementales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93792" y="1871777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estimado anual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93792" y="2203704"/>
            <a:ext cx="3813048" cy="1051560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5193792" y="2203704"/>
            <a:ext cx="3813048" cy="36576"/>
          </a:xfrm>
          <a:prstGeom prst="rect">
            <a:avLst/>
          </a:prstGeom>
          <a:solidFill>
            <a:srgbClr val="C6A27E"/>
          </a:solidFill>
          <a:ln w="12700">
            <a:solidFill>
              <a:srgbClr val="C6A2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5193792" y="2295144"/>
            <a:ext cx="3813048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~13x</a:t>
            </a:r>
            <a:endParaRPr lang="en-US" sz="3200" dirty="0">
              <a:solidFill>
                <a:srgbClr val="C6A27E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93792" y="2803093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esperado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93792" y="3023921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Eficiencia ROI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193792" y="3355848"/>
            <a:ext cx="3813048" cy="1051560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5193792" y="3355848"/>
            <a:ext cx="3813048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5193792" y="3447288"/>
            <a:ext cx="3813048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F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12M€</a:t>
            </a:r>
            <a:endParaRPr lang="en-US" sz="3200" dirty="0">
              <a:solidFill>
                <a:srgbClr val="8FA3B2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5193792" y="3955237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mantenido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93792" y="4176065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incremento de inversión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</a:t>
            </a:r>
            <a:r>
              <a:rPr lang="en-US" sz="120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</a:t>
            </a: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apuesta</a:t>
            </a: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es una </a:t>
            </a:r>
            <a:r>
              <a:rPr lang="en-US" sz="120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reasignación</a:t>
            </a: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i="1" dirty="0" err="1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eficiente</a:t>
            </a: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>
            <a:extLst>
              <a:ext uri="{FF2B5EF4-FFF2-40B4-BE49-F238E27FC236}">
                <a16:creationId xmlns:a16="http://schemas.microsoft.com/office/drawing/2014/main" id="{3A276E8B-DD88-6EF1-6E0F-C729A9BB0231}"/>
              </a:ext>
            </a:extLst>
          </p:cNvPr>
          <p:cNvSpPr/>
          <p:nvPr/>
        </p:nvSpPr>
        <p:spPr>
          <a:xfrm>
            <a:off x="0" y="0"/>
            <a:ext cx="9204960" cy="51435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Text 0"/>
          <p:cNvSpPr/>
          <p:nvPr/>
        </p:nvSpPr>
        <p:spPr>
          <a:xfrm>
            <a:off x="457200" y="1371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577840" y="914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+3,0M€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641848" y="38862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capturado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720840" y="914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~13x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784848" y="3977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equilibrio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63840" y="914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48,9%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863840" y="387096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/ ventas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804672"/>
            <a:ext cx="4224528" cy="171907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57200" y="804672"/>
            <a:ext cx="4224528" cy="32004"/>
          </a:xfrm>
          <a:prstGeom prst="rect">
            <a:avLst/>
          </a:prstGeom>
          <a:solidFill>
            <a:srgbClr val="C4856A"/>
          </a:solidFill>
          <a:ln w="12700">
            <a:solidFill>
              <a:srgbClr val="C485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85216" y="877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24128" y="896112"/>
            <a:ext cx="3034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de asignación, no de nivel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" y="1307592"/>
            <a:ext cx="3968496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85216" y="138988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" y="1435608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39,8% del presupuesto con ROI 4,3x </a:t>
            </a:r>
          </a:p>
        </p:txBody>
      </p:sp>
      <p:sp>
        <p:nvSpPr>
          <p:cNvPr id="17" name="Text 15"/>
          <p:cNvSpPr/>
          <p:nvPr/>
        </p:nvSpPr>
        <p:spPr>
          <a:xfrm>
            <a:off x="585216" y="171907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5104" y="1764030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CRM: solo 4,9% del presupuesto con ROI 24,3x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" y="204825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" y="2101596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+3,0M€/año capturables sin aumentar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52332" y="1371600"/>
            <a:ext cx="844906" cy="804672"/>
          </a:xfrm>
          <a:prstGeom prst="rect">
            <a:avLst/>
          </a:prstGeom>
          <a:solidFill>
            <a:srgbClr val="FAF8F5"/>
          </a:solidFill>
          <a:ln w="6350">
            <a:solidFill>
              <a:srgbClr val="C4856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727094" y="1456944"/>
            <a:ext cx="8449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8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+3,0M€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52332" y="1728217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gasto extra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54880" y="804672"/>
            <a:ext cx="4224528" cy="1719072"/>
          </a:xfrm>
          <a:prstGeom prst="rect">
            <a:avLst/>
          </a:prstGeom>
          <a:solidFill>
            <a:srgbClr val="FAF8F5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754880" y="804672"/>
            <a:ext cx="4224528" cy="32004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882896" y="877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321808" y="896112"/>
            <a:ext cx="3034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marketing explica el 49% de las ventas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82896" y="1307592"/>
            <a:ext cx="3968496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882896" y="138988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65776" y="1389888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374,6M€ de 766M€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atribuibles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marketing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82896" y="171907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65776" y="1719072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Awareness: mayor contribución absoluta (114,9M€)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82896" y="204825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65776" y="2048256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marketing es palanca real, no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50012" y="1371600"/>
            <a:ext cx="844906" cy="804672"/>
          </a:xfrm>
          <a:prstGeom prst="rect">
            <a:avLst/>
          </a:prstGeom>
          <a:solidFill>
            <a:srgbClr val="FAF8F5"/>
          </a:solidFill>
          <a:ln w="6350">
            <a:solidFill>
              <a:srgbClr val="8FA3B1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8050012" y="1426464"/>
            <a:ext cx="8449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374,6M€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50012" y="1741933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marketing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7200" y="2596896"/>
            <a:ext cx="4224528" cy="1719072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457200" y="2596896"/>
            <a:ext cx="4224528" cy="32004"/>
          </a:xfrm>
          <a:prstGeom prst="rect">
            <a:avLst/>
          </a:prstGeom>
          <a:solidFill>
            <a:srgbClr val="C6A27E"/>
          </a:solidFill>
          <a:ln w="12700">
            <a:solidFill>
              <a:srgbClr val="C6A2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585216" y="267004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88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024128" y="2688336"/>
            <a:ext cx="3034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reasignación óptima es clara y ejecutable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5216" y="3099816"/>
            <a:ext cx="3968496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85216" y="318211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8096" y="3182112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Performance -1,6M€ · ↑ Awareness +1,0M€ · ↑ Offline +0,5M€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5216" y="351129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8096" y="3565398"/>
            <a:ext cx="2758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+0,1M€,  ROI marginal superior en todos los canales destino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5216" y="38404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A2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85104" y="3894582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&lt; 9% en todos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52332" y="3163824"/>
            <a:ext cx="844906" cy="804672"/>
          </a:xfrm>
          <a:prstGeom prst="rect">
            <a:avLst/>
          </a:prstGeom>
          <a:solidFill>
            <a:srgbClr val="FAF8F5"/>
          </a:solidFill>
          <a:ln w="6350">
            <a:solidFill>
              <a:srgbClr val="C6A27E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3752332" y="3268980"/>
            <a:ext cx="8449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8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canales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752332" y="3534155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reasignado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754880" y="2596896"/>
            <a:ext cx="4224528" cy="1719072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4754880" y="2596896"/>
            <a:ext cx="4224528" cy="32004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4882896" y="267004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5321808" y="2688336"/>
            <a:ext cx="3034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es estratégica: ROI vs ventas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882896" y="3099816"/>
            <a:ext cx="3968496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4882896" y="318211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82784" y="3232404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~13x → 12M€ → 161M€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82896" y="351129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82784" y="3557016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~17x → 8,5M€ → 147M€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82896" y="38404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78944" y="3900678"/>
            <a:ext cx="29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y eficiencia son objetivos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050012" y="3163824"/>
            <a:ext cx="844906" cy="804672"/>
          </a:xfrm>
          <a:prstGeom prst="rect">
            <a:avLst/>
          </a:prstGeom>
          <a:solidFill>
            <a:srgbClr val="FAF8F5"/>
          </a:solidFill>
          <a:ln w="6350">
            <a:solidFill>
              <a:srgbClr val="7B9E87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8050012" y="3218688"/>
            <a:ext cx="8449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9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zonas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050012" y="3525012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estratégica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57200" y="4361688"/>
            <a:ext cx="8522208" cy="475488"/>
          </a:xfrm>
          <a:prstGeom prst="rect">
            <a:avLst/>
          </a:prstGeom>
          <a:solidFill>
            <a:srgbClr val="EDE8E0"/>
          </a:solidFill>
          <a:ln w="6350">
            <a:solidFill>
              <a:srgbClr val="E8E2DA"/>
            </a:solidFill>
            <a:prstDash val="solid"/>
          </a:ln>
          <a:effectLst>
            <a:outerShdw blurRad="76200" dist="12700" dir="8100000" algn="bl" rotWithShape="0">
              <a:srgbClr val="2B2B2B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603504" y="44714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A88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</a:t>
            </a:r>
          </a:p>
          <a:p>
            <a:pPr marL="0" indent="0">
              <a:buNone/>
            </a:pPr>
            <a:r>
              <a:rPr lang="en-US" sz="800" kern="0" spc="250" dirty="0">
                <a:solidFill>
                  <a:srgbClr val="A88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PASOS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090684" y="4407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mix </a:t>
            </a:r>
            <a:r>
              <a:rPr lang="en-US" sz="8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óptimo</a:t>
            </a: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holdout </a:t>
            </a:r>
            <a:r>
              <a:rPr lang="en-US" sz="8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geográfico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410712" y="4443984"/>
            <a:ext cx="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3493008" y="4407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Incorporar margen bruto al ROI, pasar de ventas a </a:t>
            </a:r>
            <a:r>
              <a:rPr lang="en-US" sz="8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</a:t>
            </a: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120640" y="4443984"/>
            <a:ext cx="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5202936" y="4407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Evaluar capacidad de escalar CRM (coste real de equipo + plataforma)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830568" y="4443984"/>
            <a:ext cx="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6912864" y="4407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Actualizar modelo con </a:t>
            </a:r>
            <a:r>
              <a:rPr lang="en-US" sz="8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2025,</a:t>
            </a:r>
          </a:p>
          <a:p>
            <a:pPr marL="0" indent="0">
              <a:buNone/>
            </a:pPr>
            <a:r>
              <a:rPr lang="en-US" sz="8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estabilidad de coeficientes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57200" y="4916424"/>
            <a:ext cx="8229600" cy="0"/>
          </a:xfrm>
          <a:prstGeom prst="line">
            <a:avLst/>
          </a:prstGeom>
          <a:noFill/>
          <a:ln w="5080">
            <a:solidFill>
              <a:srgbClr val="E8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Text 74"/>
          <p:cNvSpPr/>
          <p:nvPr/>
        </p:nvSpPr>
        <p:spPr>
          <a:xfrm>
            <a:off x="45720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 modelo no decide. Muestra el coste de cada decisión."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910</Words>
  <Application>Microsoft Macintosh PowerPoint</Application>
  <PresentationFormat>Presentación en pantalla (16:9)</PresentationFormat>
  <Paragraphs>246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 Narrow</vt:lpstr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K-MODA · Decisión de Inversión en Marketing</dc:title>
  <dc:subject>PptxGenJS Presentation</dc:subject>
  <dc:creator>PptxGenJS</dc:creator>
  <cp:lastModifiedBy>Maria Muñoz Nadales</cp:lastModifiedBy>
  <cp:revision>3</cp:revision>
  <dcterms:created xsi:type="dcterms:W3CDTF">2026-04-21T17:21:18Z</dcterms:created>
  <dcterms:modified xsi:type="dcterms:W3CDTF">2026-04-22T18:14:52Z</dcterms:modified>
</cp:coreProperties>
</file>